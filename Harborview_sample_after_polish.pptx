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Inter"/>
      <p:regular r:id="rId17"/>
      <p:bold r:id="rId18"/>
      <p:italic r:id="rId19"/>
      <p:boldItalic r:id="rId20"/>
    </p:embeddedFont>
    <p:embeddedFont>
      <p:font typeface="DM Mono Medium"/>
      <p:regular r:id="rId21"/>
      <p:italic r:id="rId22"/>
    </p:embeddedFont>
    <p:embeddedFont>
      <p:font typeface="Inter Tight"/>
      <p:regular r:id="rId23"/>
      <p:bold r:id="rId24"/>
      <p:italic r:id="rId25"/>
      <p:boldItalic r:id="rId26"/>
    </p:embeddedFont>
    <p:embeddedFont>
      <p:font typeface="DM Mono"/>
      <p:regular r:id="rId27"/>
      <p:italic r:id="rId28"/>
    </p:embeddedFont>
    <p:embeddedFont>
      <p:font typeface="Inter Tight SemiBold"/>
      <p:regular r:id="rId29"/>
      <p:bold r:id="rId30"/>
      <p:italic r:id="rId31"/>
      <p:boldItalic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Inter-regular.fntdata"/><Relationship Id="rId18" Type="http://schemas.openxmlformats.org/officeDocument/2006/relationships/font" Target="fonts/Inter-bold.fntdata"/><Relationship Id="rId19" Type="http://schemas.openxmlformats.org/officeDocument/2006/relationships/font" Target="fonts/Inter-italic.fntdata"/><Relationship Id="rId20" Type="http://schemas.openxmlformats.org/officeDocument/2006/relationships/font" Target="fonts/Inter-boldItalic.fntdata"/><Relationship Id="rId21" Type="http://schemas.openxmlformats.org/officeDocument/2006/relationships/font" Target="fonts/DMMonoMedium-regular.fntdata"/><Relationship Id="rId22" Type="http://schemas.openxmlformats.org/officeDocument/2006/relationships/font" Target="fonts/DMMonoMedium-italic.fntdata"/><Relationship Id="rId23" Type="http://schemas.openxmlformats.org/officeDocument/2006/relationships/font" Target="fonts/InterTight-regular.fntdata"/><Relationship Id="rId24" Type="http://schemas.openxmlformats.org/officeDocument/2006/relationships/font" Target="fonts/InterTight-bold.fntdata"/><Relationship Id="rId25" Type="http://schemas.openxmlformats.org/officeDocument/2006/relationships/font" Target="fonts/InterTight-italic.fntdata"/><Relationship Id="rId26" Type="http://schemas.openxmlformats.org/officeDocument/2006/relationships/font" Target="fonts/InterTight-boldItalic.fntdata"/><Relationship Id="rId27" Type="http://schemas.openxmlformats.org/officeDocument/2006/relationships/font" Target="fonts/DMMono-regular.fntdata"/><Relationship Id="rId28" Type="http://schemas.openxmlformats.org/officeDocument/2006/relationships/font" Target="fonts/DMMono-italic.fntdata"/><Relationship Id="rId29" Type="http://schemas.openxmlformats.org/officeDocument/2006/relationships/font" Target="fonts/InterTightSemiBold-regular.fntdata"/><Relationship Id="rId30" Type="http://schemas.openxmlformats.org/officeDocument/2006/relationships/font" Target="fonts/InterTightSemiBold-bold.fntdata"/><Relationship Id="rId31" Type="http://schemas.openxmlformats.org/officeDocument/2006/relationships/font" Target="fonts/InterTightSemiBold-italic.fntdata"/><Relationship Id="rId32" Type="http://schemas.openxmlformats.org/officeDocument/2006/relationships/font" Target="fonts/InterTightSemiBold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0D6"/>
          </a:solidFill>
          <a:ln w="12700">
            <a:solidFill>
              <a:srgbClr val="ECE0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39326" y="0"/>
            <a:ext cx="5152370" cy="6858000"/>
          </a:xfrm>
          <a:prstGeom prst="rect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4" name="Image 0" descr="Procore Demo Brand approved title tex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7849" y="479146"/>
            <a:ext cx="5008900" cy="61714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1" descr="Procore Demo Brand approved template imagery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07849" y="3818992"/>
            <a:ext cx="4843760" cy="283162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0452" y="115763"/>
            <a:ext cx="19049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39629" y="349849"/>
            <a:ext cx="6667530" cy="1968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Harborview Civil Partners</a:t>
            </a:r>
            <a:endParaRPr lang="en-US" sz="5800" dirty="0"/>
          </a:p>
        </p:txBody>
      </p:sp>
      <p:sp>
        <p:nvSpPr>
          <p:cNvPr id="9" name="Text 5"/>
          <p:cNvSpPr/>
          <p:nvPr/>
        </p:nvSpPr>
        <p:spPr>
          <a:xfrm>
            <a:off x="139629" y="2556205"/>
            <a:ext cx="5075469" cy="617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Client adoption report | June 2026</a:t>
            </a:r>
            <a:endParaRPr lang="en-US" sz="2800" dirty="0"/>
          </a:p>
        </p:txBody>
      </p:sp>
      <p:pic>
        <p:nvPicPr>
          <p:cNvPr id="10" name="Image 2" descr="Procore Demo Brand wordmark from the approved temp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52" y="6227521"/>
            <a:ext cx="3282147" cy="4230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DISCUSSION FLOW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50" dirty="0"/>
          </a:p>
        </p:txBody>
      </p:sp>
      <p:pic>
        <p:nvPicPr>
          <p:cNvPr id="8" name="Image 1" descr="Procore Demo Brand approved agenda tex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0368"/>
            <a:ext cx="5176693" cy="40076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869" y="908091"/>
            <a:ext cx="302849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22082" y="908091"/>
            <a:ext cx="5005608" cy="46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Executive Readout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4846869" y="1720809"/>
            <a:ext cx="302849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322082" y="1720809"/>
            <a:ext cx="5005608" cy="46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Current Adoption Health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4846869" y="2533620"/>
            <a:ext cx="302849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322082" y="2533620"/>
            <a:ext cx="5005608" cy="46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Usage Trend</a:t>
            </a:r>
            <a:endParaRPr lang="en-US" sz="2300" dirty="0"/>
          </a:p>
        </p:txBody>
      </p:sp>
      <p:sp>
        <p:nvSpPr>
          <p:cNvPr id="15" name="Text 11"/>
          <p:cNvSpPr/>
          <p:nvPr/>
        </p:nvSpPr>
        <p:spPr>
          <a:xfrm>
            <a:off x="4846869" y="3346430"/>
            <a:ext cx="302849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22082" y="3346430"/>
            <a:ext cx="5005608" cy="46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Workflow Adoption Mix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4846869" y="4159240"/>
            <a:ext cx="302849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322082" y="4159240"/>
            <a:ext cx="5005608" cy="46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Risks &amp; Recommended Actions</a:t>
            </a:r>
            <a:endParaRPr lang="en-US" sz="2300" dirty="0"/>
          </a:p>
        </p:txBody>
      </p:sp>
      <p:sp>
        <p:nvSpPr>
          <p:cNvPr id="19" name="Text 15"/>
          <p:cNvSpPr/>
          <p:nvPr/>
        </p:nvSpPr>
        <p:spPr>
          <a:xfrm>
            <a:off x="4846869" y="4972050"/>
            <a:ext cx="302849" cy="18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06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322082" y="4972050"/>
            <a:ext cx="5005608" cy="4691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90-Day Adoption Plan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EXECUTIVE READOUT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452" y="757672"/>
            <a:ext cx="66675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Executive Readout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40452" y="1524030"/>
            <a:ext cx="4699010" cy="2667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76% adoption across 24 projects. Next focus: submittals and onboarding.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322082" y="1587581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322082" y="1825325"/>
            <a:ext cx="457200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76% adoption; up 3 pts.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22082" y="2794041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02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322082" y="3031785"/>
            <a:ext cx="457200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244 of 325 users active.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22082" y="400050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03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322082" y="4238244"/>
            <a:ext cx="457200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61% mobile usage; up 2 pts.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322082" y="5206959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04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5322082" y="5444703"/>
            <a:ext cx="4572000" cy="60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75% licensed coverage.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CURRENT ADOPTION HEALTH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452" y="757672"/>
            <a:ext cx="846304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Current Adoption Health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40452" y="1452250"/>
            <a:ext cx="9638599" cy="28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of licensed users are active across 24 active projects.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0452" y="2552730"/>
            <a:ext cx="3839017" cy="1682770"/>
          </a:xfrm>
          <a:prstGeom prst="rect">
            <a:avLst/>
          </a:prstGeom>
          <a:solidFill>
            <a:srgbClr val="ECE0D6"/>
          </a:solidFill>
          <a:ln w="6985">
            <a:solidFill>
              <a:srgbClr val="D7CABF"/>
            </a:solidFill>
            <a:prstDash val="solid"/>
          </a:ln>
        </p:spPr>
      </p:sp>
      <p:pic>
        <p:nvPicPr>
          <p:cNvPr id="11" name="Image 1" descr="Adoption Score approved templa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84" y="284533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6252" y="2872770"/>
            <a:ext cx="27417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SCORE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826252" y="3229386"/>
            <a:ext cx="28788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76%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826252" y="3768882"/>
            <a:ext cx="2924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health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176339" y="2552730"/>
            <a:ext cx="3839017" cy="1682770"/>
          </a:xfrm>
          <a:prstGeom prst="rect">
            <a:avLst/>
          </a:prstGeom>
          <a:solidFill>
            <a:srgbClr val="F3F3F3"/>
          </a:solidFill>
          <a:ln w="6985">
            <a:solidFill>
              <a:srgbClr val="D7CABF"/>
            </a:solidFill>
            <a:prstDash val="solid"/>
          </a:ln>
        </p:spPr>
      </p:sp>
      <p:pic>
        <p:nvPicPr>
          <p:cNvPr id="16" name="Image 2" descr="Active Users approved templ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71" y="284533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62139" y="2872770"/>
            <a:ext cx="27417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ACTIVE USERS</a:t>
            </a:r>
            <a:endParaRPr lang="en-US" sz="650" dirty="0"/>
          </a:p>
        </p:txBody>
      </p:sp>
      <p:sp>
        <p:nvSpPr>
          <p:cNvPr id="18" name="Text 13"/>
          <p:cNvSpPr/>
          <p:nvPr/>
        </p:nvSpPr>
        <p:spPr>
          <a:xfrm>
            <a:off x="4862139" y="3229386"/>
            <a:ext cx="28788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244</a:t>
            </a:r>
            <a:endParaRPr lang="en-US" sz="2500" dirty="0"/>
          </a:p>
        </p:txBody>
      </p:sp>
      <p:sp>
        <p:nvSpPr>
          <p:cNvPr id="19" name="Text 14"/>
          <p:cNvSpPr/>
          <p:nvPr/>
        </p:nvSpPr>
        <p:spPr>
          <a:xfrm>
            <a:off x="4862139" y="3768882"/>
            <a:ext cx="2924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the platform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8212226" y="2552730"/>
            <a:ext cx="3839017" cy="1682770"/>
          </a:xfrm>
          <a:prstGeom prst="rect">
            <a:avLst/>
          </a:prstGeom>
          <a:solidFill>
            <a:srgbClr val="F3F3F3"/>
          </a:solidFill>
          <a:ln w="6985">
            <a:solidFill>
              <a:srgbClr val="D7CABF"/>
            </a:solidFill>
            <a:prstDash val="solid"/>
          </a:ln>
        </p:spPr>
      </p:sp>
      <p:pic>
        <p:nvPicPr>
          <p:cNvPr id="21" name="Image 3" descr="Licensed Users approved templat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258" y="284533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98026" y="2872770"/>
            <a:ext cx="27417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LICENSED USERS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8898026" y="3229386"/>
            <a:ext cx="28788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325</a:t>
            </a:r>
            <a:endParaRPr lang="en-US" sz="2500" dirty="0"/>
          </a:p>
        </p:txBody>
      </p:sp>
      <p:sp>
        <p:nvSpPr>
          <p:cNvPr id="24" name="Text 18"/>
          <p:cNvSpPr/>
          <p:nvPr/>
        </p:nvSpPr>
        <p:spPr>
          <a:xfrm>
            <a:off x="8898026" y="3768882"/>
            <a:ext cx="2924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 seats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2158395" y="4464101"/>
            <a:ext cx="3839017" cy="1682770"/>
          </a:xfrm>
          <a:prstGeom prst="rect">
            <a:avLst/>
          </a:prstGeom>
          <a:solidFill>
            <a:srgbClr val="F3F3F3"/>
          </a:solidFill>
          <a:ln w="6985">
            <a:solidFill>
              <a:srgbClr val="D7CABF"/>
            </a:solidFill>
            <a:prstDash val="solid"/>
          </a:ln>
        </p:spPr>
      </p:sp>
      <p:pic>
        <p:nvPicPr>
          <p:cNvPr id="26" name="Image 4" descr="Active Projects approved templat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427" y="4756709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844195" y="4784141"/>
            <a:ext cx="27417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ACTIVE PROJECTS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2844195" y="5140757"/>
            <a:ext cx="28788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24</a:t>
            </a:r>
            <a:endParaRPr lang="en-US" sz="2500" dirty="0"/>
          </a:p>
        </p:txBody>
      </p:sp>
      <p:sp>
        <p:nvSpPr>
          <p:cNvPr id="29" name="Text 22"/>
          <p:cNvSpPr/>
          <p:nvPr/>
        </p:nvSpPr>
        <p:spPr>
          <a:xfrm>
            <a:off x="2844195" y="5680253"/>
            <a:ext cx="2924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projects</a:t>
            </a:r>
            <a:endParaRPr lang="en-US" sz="850" dirty="0"/>
          </a:p>
        </p:txBody>
      </p:sp>
      <p:sp>
        <p:nvSpPr>
          <p:cNvPr id="30" name="Shape 23"/>
          <p:cNvSpPr/>
          <p:nvPr/>
        </p:nvSpPr>
        <p:spPr>
          <a:xfrm>
            <a:off x="6194283" y="4464101"/>
            <a:ext cx="3839017" cy="1682770"/>
          </a:xfrm>
          <a:prstGeom prst="rect">
            <a:avLst/>
          </a:prstGeom>
          <a:solidFill>
            <a:srgbClr val="F3F3F3"/>
          </a:solidFill>
          <a:ln w="6985">
            <a:solidFill>
              <a:srgbClr val="D7CABF"/>
            </a:solidFill>
            <a:prstDash val="solid"/>
          </a:ln>
        </p:spPr>
      </p:sp>
      <p:pic>
        <p:nvPicPr>
          <p:cNvPr id="31" name="Image 5" descr="Mobile Usage approved templat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0315" y="4756709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80083" y="4784141"/>
            <a:ext cx="274173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MOBILE USAGE</a:t>
            </a:r>
            <a:endParaRPr lang="en-US" sz="650" dirty="0"/>
          </a:p>
        </p:txBody>
      </p:sp>
      <p:sp>
        <p:nvSpPr>
          <p:cNvPr id="33" name="Text 25"/>
          <p:cNvSpPr/>
          <p:nvPr/>
        </p:nvSpPr>
        <p:spPr>
          <a:xfrm>
            <a:off x="6880083" y="5140757"/>
            <a:ext cx="287889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61%</a:t>
            </a:r>
            <a:endParaRPr lang="en-US" sz="2500" dirty="0"/>
          </a:p>
        </p:txBody>
      </p:sp>
      <p:sp>
        <p:nvSpPr>
          <p:cNvPr id="34" name="Text 26"/>
          <p:cNvSpPr/>
          <p:nvPr/>
        </p:nvSpPr>
        <p:spPr>
          <a:xfrm>
            <a:off x="6880083" y="5680253"/>
            <a:ext cx="29246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engagement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USAGE TREND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855592" y="757672"/>
            <a:ext cx="517641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Usage Trend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867662" y="1486632"/>
            <a:ext cx="7705192" cy="50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rose 38% to 76%; active users grew 104 to 244.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000250" y="2451141"/>
            <a:ext cx="7080291" cy="2895630"/>
          </a:xfrm>
          <a:prstGeom prst="rect">
            <a:avLst/>
          </a:prstGeom>
          <a:solidFill>
            <a:srgbClr val="FFFFFF"/>
          </a:solidFill>
          <a:ln w="6350">
            <a:solidFill>
              <a:srgbClr val="D7CAB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0250" y="5346771"/>
            <a:ext cx="7080291" cy="0"/>
          </a:xfrm>
          <a:prstGeom prst="line">
            <a:avLst/>
          </a:prstGeom>
          <a:noFill/>
          <a:ln w="6350">
            <a:solidFill>
              <a:srgbClr val="D7CAB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52778" y="5273619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000250" y="4622864"/>
            <a:ext cx="7080291" cy="0"/>
          </a:xfrm>
          <a:prstGeom prst="line">
            <a:avLst/>
          </a:prstGeom>
          <a:noFill/>
          <a:ln w="6350">
            <a:solidFill>
              <a:srgbClr val="D7CAB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652778" y="454971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000250" y="3898956"/>
            <a:ext cx="7080291" cy="0"/>
          </a:xfrm>
          <a:prstGeom prst="line">
            <a:avLst/>
          </a:prstGeom>
          <a:noFill/>
          <a:ln w="6350">
            <a:solidFill>
              <a:srgbClr val="D7CA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52778" y="382580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000250" y="3175048"/>
            <a:ext cx="7080291" cy="0"/>
          </a:xfrm>
          <a:prstGeom prst="line">
            <a:avLst/>
          </a:prstGeom>
          <a:noFill/>
          <a:ln w="6350">
            <a:solidFill>
              <a:srgbClr val="D7CAB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52778" y="310189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000250" y="2451141"/>
            <a:ext cx="7080291" cy="0"/>
          </a:xfrm>
          <a:prstGeom prst="line">
            <a:avLst/>
          </a:prstGeom>
          <a:noFill/>
          <a:ln w="6350">
            <a:solidFill>
              <a:srgbClr val="D7CAB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52778" y="2377989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 flipV="1">
            <a:off x="2000250" y="4072694"/>
            <a:ext cx="1011470" cy="173738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3011720" y="3870000"/>
            <a:ext cx="1011470" cy="202694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4023190" y="3667305"/>
            <a:ext cx="1011470" cy="202694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034660" y="3493568"/>
            <a:ext cx="1011470" cy="173738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6046130" y="3348786"/>
            <a:ext cx="1011470" cy="144782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7057600" y="3232961"/>
            <a:ext cx="1011470" cy="115825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V="1">
            <a:off x="8069071" y="3146092"/>
            <a:ext cx="1011470" cy="86869"/>
          </a:xfrm>
          <a:prstGeom prst="line">
            <a:avLst/>
          </a:prstGeom>
          <a:noFill/>
          <a:ln w="30480">
            <a:solidFill>
              <a:srgbClr val="FF52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54530" y="4200712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99082" y="397211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38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543050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November 2025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2966000" y="4026974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10552" y="379837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44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554520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December 2025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3977470" y="3824280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822022" y="35956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565990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 2026</a:t>
            </a:r>
            <a:endParaRPr lang="en-US" sz="750" dirty="0"/>
          </a:p>
        </p:txBody>
      </p:sp>
      <p:sp>
        <p:nvSpPr>
          <p:cNvPr id="37" name="Shape 34"/>
          <p:cNvSpPr/>
          <p:nvPr/>
        </p:nvSpPr>
        <p:spPr>
          <a:xfrm>
            <a:off x="4988940" y="3621585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33492" y="3392985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58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7460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February 2026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6000410" y="3447848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844962" y="321924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64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588930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 2026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7011880" y="3303066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56432" y="307446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69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600400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8023351" y="3187241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867903" y="2958641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73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611871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2026</a:t>
            </a:r>
            <a:endParaRPr lang="en-US" sz="750" dirty="0"/>
          </a:p>
        </p:txBody>
      </p:sp>
      <p:sp>
        <p:nvSpPr>
          <p:cNvPr id="49" name="Shape 46"/>
          <p:cNvSpPr/>
          <p:nvPr/>
        </p:nvSpPr>
        <p:spPr>
          <a:xfrm>
            <a:off x="9034821" y="3100372"/>
            <a:ext cx="91440" cy="91440"/>
          </a:xfrm>
          <a:prstGeom prst="ellipse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879373" y="287177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76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8623341" y="5456499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 2026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9425361" y="3220060"/>
            <a:ext cx="2388413" cy="761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5200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+38 pts since November 2025</a:t>
            </a:r>
            <a:endParaRPr lang="en-US" sz="2200" dirty="0"/>
          </a:p>
        </p:txBody>
      </p:sp>
      <p:sp>
        <p:nvSpPr>
          <p:cNvPr id="53" name="Text 50"/>
          <p:cNvSpPr/>
          <p:nvPr/>
        </p:nvSpPr>
        <p:spPr>
          <a:xfrm>
            <a:off x="9425361" y="3937041"/>
            <a:ext cx="2388413" cy="698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Adoption score reached 76 in June 2026.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WORKFLOW ADOPTION MIX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855592" y="757672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Workflow Adoption Mix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867662" y="1486632"/>
            <a:ext cx="7705192" cy="5023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feature: Daily Logs. Focus area: RFIs.</a:t>
            </a:r>
            <a:endParaRPr lang="en-US" sz="1150" dirty="0"/>
          </a:p>
        </p:txBody>
      </p:sp>
      <p:pic>
        <p:nvPicPr>
          <p:cNvPr id="10" name="Image 1" descr="Daily Logs approved templa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220" y="2530328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0720" y="2603480"/>
            <a:ext cx="133347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Daily Logs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746480" y="2603480"/>
            <a:ext cx="5587990" cy="241310"/>
          </a:xfrm>
          <a:prstGeom prst="rect">
            <a:avLst/>
          </a:prstGeom>
          <a:solidFill>
            <a:srgbClr val="F3F3F3"/>
          </a:solidFill>
          <a:ln w="3810">
            <a:solidFill>
              <a:srgbClr val="D7CABF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46480" y="2603480"/>
            <a:ext cx="5587990" cy="241310"/>
          </a:xfrm>
          <a:prstGeom prst="rect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556760" y="2612624"/>
            <a:ext cx="634959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1320</a:t>
            </a:r>
            <a:endParaRPr lang="en-US" sz="850" dirty="0"/>
          </a:p>
        </p:txBody>
      </p:sp>
      <p:pic>
        <p:nvPicPr>
          <p:cNvPr id="15" name="Image 2" descr="Submittals approved templa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20" y="338757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90720" y="3460730"/>
            <a:ext cx="133347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Submittals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746480" y="3460730"/>
            <a:ext cx="5587990" cy="241310"/>
          </a:xfrm>
          <a:prstGeom prst="rect">
            <a:avLst/>
          </a:prstGeom>
          <a:solidFill>
            <a:srgbClr val="F3F3F3"/>
          </a:solidFill>
          <a:ln w="3810">
            <a:solidFill>
              <a:srgbClr val="D7CAB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746480" y="3460730"/>
            <a:ext cx="1261531" cy="241310"/>
          </a:xfrm>
          <a:prstGeom prst="rect">
            <a:avLst/>
          </a:prstGeom>
          <a:solidFill>
            <a:srgbClr val="3A3735"/>
          </a:solidFill>
          <a:ln w="12700">
            <a:solidFill>
              <a:srgbClr val="3A373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556760" y="3469874"/>
            <a:ext cx="634959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298</a:t>
            </a:r>
            <a:endParaRPr lang="en-US" sz="850" dirty="0"/>
          </a:p>
        </p:txBody>
      </p:sp>
      <p:pic>
        <p:nvPicPr>
          <p:cNvPr id="20" name="Image 3" descr="RFIs approved templat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220" y="4244828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190720" y="4317980"/>
            <a:ext cx="1333470" cy="21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RFIs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3746480" y="4317980"/>
            <a:ext cx="5587990" cy="241310"/>
          </a:xfrm>
          <a:prstGeom prst="rect">
            <a:avLst/>
          </a:prstGeom>
          <a:solidFill>
            <a:srgbClr val="F3F3F3"/>
          </a:solidFill>
          <a:ln w="3810">
            <a:solidFill>
              <a:srgbClr val="D7CAB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746480" y="4317980"/>
            <a:ext cx="770465" cy="241310"/>
          </a:xfrm>
          <a:prstGeom prst="rect">
            <a:avLst/>
          </a:prstGeom>
          <a:solidFill>
            <a:srgbClr val="3A3735"/>
          </a:solidFill>
          <a:ln w="12700">
            <a:solidFill>
              <a:srgbClr val="3A373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9556760" y="4327124"/>
            <a:ext cx="634959" cy="165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182</a:t>
            </a:r>
            <a:endParaRPr lang="en-US" sz="850" dirty="0"/>
          </a:p>
        </p:txBody>
      </p:sp>
      <p:sp>
        <p:nvSpPr>
          <p:cNvPr id="25" name="Shape 19"/>
          <p:cNvSpPr/>
          <p:nvPr/>
        </p:nvSpPr>
        <p:spPr>
          <a:xfrm>
            <a:off x="1854220" y="5302240"/>
            <a:ext cx="2730490" cy="698510"/>
          </a:xfrm>
          <a:prstGeom prst="rect">
            <a:avLst/>
          </a:prstGeom>
          <a:solidFill>
            <a:srgbClr val="ECE0D6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073676" y="54576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TOP FEATURE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2073676" y="5686288"/>
            <a:ext cx="2095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Daily Logs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092659" y="5302240"/>
            <a:ext cx="2730490" cy="698510"/>
          </a:xfrm>
          <a:prstGeom prst="rect">
            <a:avLst/>
          </a:prstGeom>
          <a:solidFill>
            <a:srgbClr val="F3F3F3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312115" y="545768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FOCUS AREA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5312115" y="5686288"/>
            <a:ext cx="20955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RFIs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RISKS &amp; RECOMMENDED ACTIONS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452" y="757672"/>
            <a:ext cx="6772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Risks &amp; Recommended Actions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40452" y="1452250"/>
            <a:ext cx="5715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Adoption is healthy but still at risk of backsliding because submittal habits and new-project onboarding are not fully standardized.</a:t>
            </a:r>
            <a:endParaRPr lang="en-US" sz="1500" dirty="0"/>
          </a:p>
        </p:txBody>
      </p:sp>
      <p:pic>
        <p:nvPicPr>
          <p:cNvPr id="10" name="Image 1" descr="Recommendation icon from the approved brand tem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805" y="2730490"/>
            <a:ext cx="609630" cy="609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37805" y="378461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01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2737805" y="4038630"/>
            <a:ext cx="3265962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Set a 90-day adoption governance cadence with executive sponsorship.</a:t>
            </a:r>
            <a:endParaRPr lang="en-US" sz="1300" dirty="0"/>
          </a:p>
        </p:txBody>
      </p:sp>
      <p:pic>
        <p:nvPicPr>
          <p:cNvPr id="13" name="Image 2" descr="Recommendation icon from the approved brand temp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928" y="2730490"/>
            <a:ext cx="609630" cy="6096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928" y="378461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02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6187928" y="4038630"/>
            <a:ext cx="3265962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Launch a submittal response improvement plan for the five highest-volume projects.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RISKS &amp; RECOMMENDED ACTIONS CONTINUE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452" y="757672"/>
            <a:ext cx="6772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Risks &amp; Recommended Actions Continued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40452" y="1452250"/>
            <a:ext cx="5715000" cy="95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Adoption is healthy but still at risk of backsliding because submittal habits and new-project onboarding are not fully standardized.</a:t>
            </a:r>
            <a:endParaRPr lang="en-US" sz="1500" dirty="0"/>
          </a:p>
        </p:txBody>
      </p:sp>
      <p:pic>
        <p:nvPicPr>
          <p:cNvPr id="10" name="Image 1" descr="Recommendation icon from the approved brand templa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805" y="2730490"/>
            <a:ext cx="609630" cy="609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37805" y="378461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01</a:t>
            </a:r>
            <a:endParaRPr lang="en-US" sz="650" dirty="0"/>
          </a:p>
        </p:txBody>
      </p:sp>
      <p:sp>
        <p:nvSpPr>
          <p:cNvPr id="12" name="Text 8"/>
          <p:cNvSpPr/>
          <p:nvPr/>
        </p:nvSpPr>
        <p:spPr>
          <a:xfrm>
            <a:off x="2737805" y="4038630"/>
            <a:ext cx="3265962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Create role-based onboarding paths for project managers, superintendents, and project engineers.</a:t>
            </a:r>
            <a:endParaRPr lang="en-US" sz="1300" dirty="0"/>
          </a:p>
        </p:txBody>
      </p:sp>
      <p:pic>
        <p:nvPicPr>
          <p:cNvPr id="13" name="Image 2" descr="Recommendation icon from the approved brand templ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928" y="2730490"/>
            <a:ext cx="609630" cy="60963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87928" y="378461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POINT 02</a:t>
            </a:r>
            <a:endParaRPr lang="en-US" sz="650" dirty="0"/>
          </a:p>
        </p:txBody>
      </p:sp>
      <p:sp>
        <p:nvSpPr>
          <p:cNvPr id="15" name="Text 10"/>
          <p:cNvSpPr/>
          <p:nvPr/>
        </p:nvSpPr>
        <p:spPr>
          <a:xfrm>
            <a:off x="6187928" y="4038630"/>
            <a:ext cx="3265962" cy="165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Confirm owner, timing, and next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90-DAY ADOPTION PLAN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452" y="757672"/>
            <a:ext cx="677241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90-Day Adoption Plan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989929" y="2667030"/>
            <a:ext cx="3289645" cy="2667030"/>
          </a:xfrm>
          <a:prstGeom prst="rect">
            <a:avLst/>
          </a:prstGeom>
          <a:solidFill>
            <a:srgbClr val="ECE0D6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1681" y="296878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291681" y="3233958"/>
            <a:ext cx="2686141" cy="179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Confirm executive sponsor for the 90-day adoption cadence.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51025" y="2667030"/>
            <a:ext cx="3289645" cy="2667030"/>
          </a:xfrm>
          <a:prstGeom prst="rect">
            <a:avLst/>
          </a:prstGeom>
          <a:solidFill>
            <a:srgbClr val="F3F3F3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2777" y="296878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02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752777" y="3233958"/>
            <a:ext cx="2686141" cy="179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Prioritize submittal response targets in project health reviews.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912120" y="2667030"/>
            <a:ext cx="3289645" cy="2667030"/>
          </a:xfrm>
          <a:prstGeom prst="rect">
            <a:avLst/>
          </a:prstGeom>
          <a:solidFill>
            <a:srgbClr val="F3F3F3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3872" y="296878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03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213872" y="3233958"/>
            <a:ext cx="2686141" cy="1798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Refresh role-based onboarding for all new active projects.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0452" y="126462"/>
            <a:ext cx="1366022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ADOPTION REPORT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65925" y="126462"/>
            <a:ext cx="1841510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3735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SOURCE NOTES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1849892" y="150144"/>
            <a:ext cx="201625" cy="174376"/>
          </a:xfrm>
          <a:prstGeom prst="hexagon">
            <a:avLst/>
          </a:prstGeom>
          <a:solidFill>
            <a:srgbClr val="FF5200"/>
          </a:solidFill>
          <a:ln w="12700">
            <a:solidFill>
              <a:srgbClr val="FF5200"/>
            </a:solidFill>
            <a:prstDash val="solid"/>
          </a:ln>
        </p:spPr>
      </p:sp>
      <p:pic>
        <p:nvPicPr>
          <p:cNvPr id="6" name="Image 0" descr="Procore Demo Brand wordmark from the approved templ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956" y="6505590"/>
            <a:ext cx="1551920" cy="2000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19998" y="6604345"/>
            <a:ext cx="731611" cy="12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3A37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40452" y="757672"/>
            <a:ext cx="9525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D1B1A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Source Notes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989929" y="2413010"/>
            <a:ext cx="3289645" cy="2031980"/>
          </a:xfrm>
          <a:prstGeom prst="rect">
            <a:avLst/>
          </a:prstGeom>
          <a:solidFill>
            <a:srgbClr val="ECE0D6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91681" y="271476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01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1291681" y="2979938"/>
            <a:ext cx="2686141" cy="116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Usage data: 8 reporting periods of account metrics for Harborview Civil Partners.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451025" y="2413010"/>
            <a:ext cx="3289645" cy="2031980"/>
          </a:xfrm>
          <a:prstGeom prst="rect">
            <a:avLst/>
          </a:prstGeom>
          <a:solidFill>
            <a:srgbClr val="F3F3F3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2777" y="271476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02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752777" y="2979938"/>
            <a:ext cx="2686141" cy="116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Supporting context: account snapshot and team input.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912120" y="2413010"/>
            <a:ext cx="3289645" cy="2031980"/>
          </a:xfrm>
          <a:prstGeom prst="rect">
            <a:avLst/>
          </a:prstGeom>
          <a:solidFill>
            <a:srgbClr val="F3F3F3"/>
          </a:solidFill>
          <a:ln w="4445">
            <a:solidFill>
              <a:srgbClr val="D7CAB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13872" y="271476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5200"/>
                </a:solidFill>
                <a:latin typeface="DM Mono Medium" pitchFamily="34" charset="0"/>
                <a:ea typeface="DM Mono Medium" pitchFamily="34" charset="-122"/>
                <a:cs typeface="DM Mono Medium" pitchFamily="34" charset="-120"/>
              </a:rPr>
              <a:t>03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8213872" y="2979938"/>
            <a:ext cx="2686141" cy="116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A3735"/>
                </a:solidFill>
                <a:latin typeface="Inter Tight SemiBold" pitchFamily="34" charset="0"/>
                <a:ea typeface="Inter Tight SemiBold" pitchFamily="34" charset="-122"/>
                <a:cs typeface="Inter Tight SemiBold" pitchFamily="34" charset="-120"/>
              </a:rPr>
              <a:t>Reporting window: June 2026.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40452" y="4646158"/>
            <a:ext cx="9525030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87E8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reflect the data sources listed above. Your account team can provide full detail on request.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A3735"/>
      </a:dk2>
      <a:lt2>
        <a:srgbClr val="F3F3F3"/>
      </a:lt2>
      <a:accent1>
        <a:srgbClr val="FF5200"/>
      </a:accent1>
      <a:accent2>
        <a:srgbClr val="F97D40"/>
      </a:accent2>
      <a:accent3>
        <a:srgbClr val="787E89"/>
      </a:accent3>
      <a:accent4>
        <a:srgbClr val="D7CABF"/>
      </a:accent4>
      <a:accent5>
        <a:srgbClr val="F97D40"/>
      </a:accent5>
      <a:accent6>
        <a:srgbClr val="787E89"/>
      </a:accent6>
      <a:hlink>
        <a:srgbClr val="FF5200"/>
      </a:hlink>
      <a:folHlink>
        <a:srgbClr val="D7CABF"/>
      </a:folHlink>
    </a:clrScheme>
    <a:fontScheme name="Office">
      <a:majorFont>
        <a:latin typeface="Inter Tight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Procore Demo Brand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Harborview Civil Partners | June 2026</dc:title>
  <dc:subject>client_adoption_report</dc:subject>
  <dc:creator>Procore Demo Brand</dc:creator>
  <cp:lastModifiedBy>Procore Demo Brand</cp:lastModifiedBy>
  <cp:revision>1</cp:revision>
  <dcterms:created xsi:type="dcterms:W3CDTF">2026-06-09T19:26:36Z</dcterms:created>
  <dcterms:modified xsi:type="dcterms:W3CDTF">2026-06-09T19:26:36Z</dcterms:modified>
</cp:coreProperties>
</file>